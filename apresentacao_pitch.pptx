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38BDF8"/>
                </a:solidFill>
                <a:latin typeface="Plus Jakarta Sans"/>
              </a:defRPr>
            </a:pPr>
            <a:r>
              <a:t>Marketplace B2B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CBD5E1"/>
                </a:solidFill>
                <a:latin typeface="Plus Jakarta Sans"/>
              </a:defRPr>
            </a:pPr>
            <a:r>
              <a:t>Construção Civil: Eficiência &amp; Transparência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CBD5E1"/>
                </a:solidFill>
                <a:latin typeface="Plus Jakarta Sans"/>
              </a:defRPr>
            </a:pPr>
            <a:r>
              <a:t>Análise Institucional e Viabilidade de Risco (Seed Stage)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Plus Jakarta Sans"/>
              </a:defRPr>
            </a:pPr>
            <a:r>
              <a:t>O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CBD5E1"/>
                </a:solidFill>
                <a:latin typeface="Plus Jakarta Sans"/>
              </a:defRPr>
            </a:pPr>
            <a:r>
              <a:t>A cadeia de suprimentos da construção é um ambiente de alta fricção e extrema ineficiência.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CBD5E1"/>
                </a:solidFill>
                <a:latin typeface="Plus Jakarta Sans"/>
              </a:defRPr>
            </a:pPr>
            <a:r>
              <a:t>• Processos de cotação 100% analógicos (WhatsApp/Telefone).</a:t>
            </a:r>
            <a:br/>
            <a:r>
              <a:t>• Forte assimetria de informações e preços.</a:t>
            </a:r>
            <a:br/>
            <a:r>
              <a:t>• Custo elevado na descoberta de novos fornecedores.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Plus Jakarta Sans"/>
              </a:defRPr>
            </a:pPr>
            <a:r>
              <a:t>O Modelo (Premissas Reais)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CBD5E1"/>
                </a:solidFill>
                <a:latin typeface="Plus Jakarta Sans"/>
              </a:defRPr>
            </a:pPr>
            <a:r>
              <a:t>O modelo não subestima o risco operacional da tese.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CBD5E1"/>
                </a:solidFill>
                <a:latin typeface="Plus Jakarta Sans"/>
              </a:defRPr>
            </a:pPr>
            <a:r>
              <a:t>• Monetização: Take rate de 2,5% sobre o GMV.</a:t>
            </a:r>
            <a:br/>
            <a:r>
              <a:t>• Risco de Bypass: Assumimos desintermediação de 50%. Capturamos apenas metade do potencial de materiais da obra.</a:t>
            </a:r>
            <a:br/>
            <a:r>
              <a:t>• Fricção de Vendas: Conversão espremida em agressivos 5% (Cold outreach B2B).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Plus Jakarta Sans"/>
              </a:defRPr>
            </a:pPr>
            <a:r>
              <a:t>A Escala do Jogo (TAM/SAM/SOM)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  <a:latin typeface="Plus Jakarta Sans"/>
              </a:defRPr>
            </a:pPr>
            <a:r>
              <a:t>R$ 64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BD5E1"/>
                </a:solidFill>
                <a:latin typeface="Plus Jakarta Sans"/>
              </a:defRPr>
            </a:pPr>
            <a:r>
              <a:t>TAM (Total Brasil)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2743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  <a:latin typeface="Plus Jakarta Sans"/>
              </a:defRPr>
            </a:pPr>
            <a:r>
              <a:t>R$ 12,8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BD5E1"/>
                </a:solidFill>
                <a:latin typeface="Plus Jakarta Sans"/>
              </a:defRPr>
            </a:pPr>
            <a:r>
              <a:t>SAM (Mercado Formal)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7432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38BDF8"/>
                </a:solidFill>
                <a:latin typeface="Plus Jakarta Sans"/>
              </a:defRPr>
            </a:pPr>
            <a:r>
              <a:t>1.264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BD5E1"/>
                </a:solidFill>
                <a:latin typeface="Plus Jakarta Sans"/>
              </a:defRPr>
            </a:pPr>
            <a:r>
              <a:t>Obras (Meta SOM Ano 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Plus Jakarta Sans"/>
              </a:defRPr>
            </a:pPr>
            <a:r>
              <a:t>Unit Economics vs Custo de Vendas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CBD5E1"/>
                </a:solidFill>
                <a:latin typeface="Plus Jakarta Sans"/>
              </a:defRPr>
            </a:pPr>
            <a:r>
              <a:t>Com conversão de apenas 5%, o CAC atinge até R$ 15.000. Contudo, a alta margem do Ticket defende a eficiência do capital.</a:t>
            </a:r>
          </a:p>
        </p:txBody>
      </p:sp>
      <p:pic>
        <p:nvPicPr>
          <p:cNvPr id="4" name="Picture 3" descr="grafico_unit_econom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Plus Jakarta Sans"/>
              </a:defRPr>
            </a:pPr>
            <a:r>
              <a:t>Auditoria Orçamentária (Simplex)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CBD5E1"/>
                </a:solidFill>
                <a:latin typeface="Plus Jakarta Sans"/>
              </a:defRPr>
            </a:pPr>
            <a:r>
              <a:t>A otimização linear atesta que a verba restrita de marketing suporta a meta, sendo desafiada apenas a partir do Ano 4.</a:t>
            </a:r>
          </a:p>
        </p:txBody>
      </p:sp>
      <p:pic>
        <p:nvPicPr>
          <p:cNvPr id="4" name="Picture 3" descr="grafico_solver_m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Plus Jakarta Sans"/>
              </a:defRPr>
            </a:pPr>
            <a:r>
              <a:t>O 'Vale da Morte' e Fluxo de Caixa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CBD5E1"/>
                </a:solidFill>
                <a:latin typeface="Plus Jakarta Sans"/>
              </a:defRPr>
            </a:pPr>
            <a:r>
              <a:t>O Investimento de R$ 705 Mil cobre 6 meses de inoperância comercial e queima do OPEX inicial.</a:t>
            </a:r>
          </a:p>
        </p:txBody>
      </p:sp>
      <p:pic>
        <p:nvPicPr>
          <p:cNvPr id="4" name="Picture 3" descr="grafico_fc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Plus Jakarta Sans"/>
              </a:defRPr>
            </a:pPr>
            <a:r>
              <a:t>Indicadores Chave de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CBD5E1"/>
                </a:solidFill>
                <a:latin typeface="Plus Jakarta Sans"/>
              </a:defRPr>
            </a:pPr>
            <a:r>
              <a:t>O rigor matemático expõe a atratividade do ativo: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Plus Jakarta Sans"/>
              </a:defRPr>
            </a:pPr>
            <a:r>
              <a:t>R$ 12,59 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BD5E1"/>
                </a:solidFill>
                <a:latin typeface="Plus Jakarta Sans"/>
              </a:defRPr>
            </a:pPr>
            <a:r>
              <a:t>VPL 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Plus Jakarta Sans"/>
              </a:defRPr>
            </a:pPr>
            <a:r>
              <a:t>319%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BD5E1"/>
                </a:solidFill>
                <a:latin typeface="Plus Jakarta Sans"/>
              </a:defRPr>
            </a:pPr>
            <a:r>
              <a:t>TIR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286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Plus Jakarta Sans"/>
              </a:defRPr>
            </a:pPr>
            <a:r>
              <a:t>9,5 meses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BD5E1"/>
                </a:solidFill>
                <a:latin typeface="Plus Jakarta Sans"/>
              </a:defRPr>
            </a:pPr>
            <a:r>
              <a:t>Payback Simples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114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7171"/>
                </a:solidFill>
                <a:latin typeface="Plus Jakarta Sans"/>
              </a:defRPr>
            </a:pPr>
            <a:r>
              <a:t>45,49%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BD5E1"/>
                </a:solidFill>
                <a:latin typeface="Plus Jakarta Sans"/>
              </a:defRPr>
            </a:pPr>
            <a:r>
              <a:t>WACC (Custo de Capital)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4114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Plus Jakarta Sans"/>
              </a:defRPr>
            </a:pPr>
            <a:r>
              <a:t>14%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BD5E1"/>
                </a:solidFill>
                <a:latin typeface="Plus Jakarta Sans"/>
              </a:defRPr>
            </a:pPr>
            <a:r>
              <a:t>Breakeven Conversão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1148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Plus Jakarta Sans"/>
              </a:defRPr>
            </a:pPr>
            <a:r>
              <a:t>&gt; 14x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CBD5E1"/>
                </a:solidFill>
                <a:latin typeface="Plus Jakarta Sans"/>
              </a:defRPr>
            </a:pPr>
            <a:r>
              <a:t>LTV / CAC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Plus Jakarta Sans"/>
              </a:defRPr>
            </a:pPr>
            <a:r>
              <a:t>Os Motores do Resultado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CBD5E1"/>
                </a:solidFill>
                <a:latin typeface="Plus Jakarta Sans"/>
              </a:defRPr>
            </a:pPr>
            <a:r>
              <a:t>Como o projeto sobrevive a tantas premissas punitivas?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CBD5E1"/>
                </a:solidFill>
                <a:latin typeface="Plus Jakarta Sans"/>
              </a:defRPr>
            </a:pPr>
            <a:r>
              <a:t>• O Poder do Ticket B2B: Mesmo com fuga transacional de 50%, a intermediação de materiais para uma única obra gera um fee absoluto superior a R$ 16 mil.</a:t>
            </a:r>
            <a:br/>
            <a:br/>
            <a:r>
              <a:t>• OPEX Enxuto e Escalável: Sem frota logística. O custo central (folha de pagamentos) dilui com o volume (Margem EBITDA atinge 83% no Ano 5).</a:t>
            </a:r>
            <a:br/>
            <a:br/>
            <a:r>
              <a:t>• Defesa Comercial: Mesmo que o CAC do Outbound dispare para R$ 15 mil (conversão de 5%), o LTV contínuo de R$ 120 mil defende agressivamente o investimento inicial.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Plus Jakarta Sans"/>
              </a:defRPr>
            </a:pPr>
            <a:r>
              <a:t>Gestão de Risco Estocástico (Monte Carlo)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CBD5E1"/>
                </a:solidFill>
                <a:latin typeface="Plus Jakarta Sans"/>
              </a:defRPr>
            </a:pPr>
            <a:r>
              <a:t>2.000 iterações variando Conversão (2% a 8%) e Custo de Capital (Até 70% a.a).</a:t>
            </a:r>
          </a:p>
        </p:txBody>
      </p:sp>
      <p:pic>
        <p:nvPicPr>
          <p:cNvPr id="4" name="Picture 3" descr="grafico_monte_car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6876" y="18288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45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8BDF8"/>
                </a:solidFill>
                <a:latin typeface="Plus Jakarta Sans"/>
              </a:defRPr>
            </a:pPr>
            <a:r>
              <a:t>Veredito Institucional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Plus Jakarta Sans"/>
              </a:defRPr>
            </a:pPr>
            <a:r>
              <a:t>PROJETO APROVADO E BLINDADO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CBD5E1"/>
                </a:solidFill>
                <a:latin typeface="Plus Jakarta Sans"/>
              </a:defRPr>
            </a:pPr>
            <a:r>
              <a:t>Mesmo drenando as premissas com bypass de 50%, gateway de pagamento corroendo receita e gargalo comercial severo (5% Conv.), o modelo gera Caixa Livre persistente e sustentável.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CBD5E1"/>
                </a:solidFill>
                <a:latin typeface="Plus Jakarta Sans"/>
              </a:defRPr>
            </a:pPr>
            <a:r>
              <a:t>A assimetria entre as despesas limitadas do software (Asset Light) contra a profundidade financeira colossal do setor construtivo faz do projeto uma tese elegível para Captação Privada.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