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13632"/>
            <a:ext cx="9144000" cy="45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UnB · Engenharia Econômica · 1º Teste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Marketplace de Material de Construção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50" kern="0" dirty="0">
                <a:solidFill>
                  <a:srgbClr val="B5D4F4"/>
                </a:solidFill>
              </a:rPr>
              <a:t>Contextualização  ·  Teorias de FCL e OR  ·  Planilhas com os Dados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41648"/>
            <a:ext cx="2560320" cy="877824"/>
          </a:xfrm>
          <a:prstGeom prst="rect">
            <a:avLst/>
          </a:prstGeom>
          <a:solidFill>
            <a:srgbClr val="0D1E36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965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3D1C7"/>
                </a:solidFill>
              </a:rPr>
              <a:t>PONTO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FA5"/>
                </a:solidFill>
              </a:rPr>
              <a:t>Contextualização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1713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Problema e mercado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4041648"/>
            <a:ext cx="2560320" cy="877824"/>
          </a:xfrm>
          <a:prstGeom prst="rect">
            <a:avLst/>
          </a:prstGeom>
          <a:solidFill>
            <a:srgbClr val="0D1E36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40965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3D1C7"/>
                </a:solidFill>
              </a:rPr>
              <a:t>PONTO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91840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AB7"/>
                </a:solidFill>
              </a:rPr>
              <a:t>Teorias FCL e 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51713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Definição e conceitos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4041648"/>
            <a:ext cx="2560320" cy="877824"/>
          </a:xfrm>
          <a:prstGeom prst="rect">
            <a:avLst/>
          </a:prstGeom>
          <a:solidFill>
            <a:srgbClr val="0D1E36"/>
          </a:solidFill>
          <a:ln w="6350">
            <a:solidFill>
              <a:srgbClr val="275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0965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3D1C7"/>
                </a:solidFill>
              </a:rPr>
              <a:t>PONTO 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26480" y="42245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00A"/>
                </a:solidFill>
              </a:rPr>
              <a:t>Planilhas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451713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Dados do projeto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1/8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 Problema que o Projeto Resolve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</a:rPr>
              <a:t>Por que um marketplace de material de construção faz sentido?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2/8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41248"/>
            <a:ext cx="1455725" cy="219456"/>
          </a:xfrm>
          <a:prstGeom prst="roundRect">
            <a:avLst>
              <a:gd name="adj" fmla="val 12500"/>
            </a:avLst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14557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 PROBLEMA ATUAL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9768" y="1197864"/>
            <a:ext cx="82296" cy="82296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1338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Construtoras compram materiais de forma fragmentada — cada obra, múltiplos fornecedores, sem controle centralizado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1792224"/>
            <a:ext cx="82296" cy="82296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7282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Processo de cotação manual, lento e sujeito a erro — média de 25 compras por obra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2386584"/>
            <a:ext cx="82296" cy="82296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3225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Sem visibilidade de preço de mercado — construtoras pagam mais do que deveriam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980944"/>
            <a:ext cx="82296" cy="82296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9169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Fornecedores sem acesso digital à demanda das obras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206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841248"/>
            <a:ext cx="1605686" cy="219456"/>
          </a:xfrm>
          <a:prstGeom prst="roundRect">
            <a:avLst>
              <a:gd name="adj" fmla="val 12500"/>
            </a:avLst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41248"/>
            <a:ext cx="16056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 SOLUÇÃO PROPOSTA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73168" y="1197864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28616" y="11338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Plataforma B2B que centraliza cotações e compras de materiais via IA e WhatsApp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1792224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17282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Fee de 2,5% sobre cada compra intermediada — pago pelo fornecedor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2386584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23225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Construtora ganha agilidade e rastreabilidade; fornecedor ganha acesso a mais obras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73168" y="2980944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28616" y="29169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Modelo sem estoque, sem logística — escalável com custo marginal mínimo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822192"/>
            <a:ext cx="54864" cy="5943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822192"/>
            <a:ext cx="8540496" cy="59436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8221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Tipo de projeto: Industrial e financeiro — marketplace de serviços B2B para o setor de construção civil. Geração de valor econômico via intermediação digital com fee transacional.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Tamanho de Mercado e Oportunidade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</a:rPr>
              <a:t>TAM · SAM · SOM — base para dimensionar o potencial do projeto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3/8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TAM — TOTAL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1033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</a:rPr>
              <a:t>R$ 64,1B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435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gastos em materiais/ano no Brasil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4320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68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SAM — ENDEREÇÁVEL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0" y="1033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R$ 12,8B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1435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20% do TAM — obras formais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74320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8686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SOM — META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26480" y="1033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500A"/>
                </a:solidFill>
              </a:rPr>
              <a:t>R$ 3,2B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1435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5% do TAM em 5 anos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1874520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1938528"/>
            <a:ext cx="1755648" cy="219456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9385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PREMISSAS DE MERCADO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67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Total de obras/ano no Brasil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0" y="226771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50.000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596896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6151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Média de pavimentos por obra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17520" y="26151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2,85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944368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626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Custo médio por m²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17520" y="296265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R$ 1.250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291840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101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% do custo em materiais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17520" y="331012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60%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639312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576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Gasto médio em materiais/obra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017520" y="36576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R$ 1.282.500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986784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050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Fee do marketplace (2,5%)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017520" y="40050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R$ 32.062/obra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1874520"/>
            <a:ext cx="420624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1938528"/>
            <a:ext cx="2430475" cy="219456"/>
          </a:xfrm>
          <a:prstGeom prst="roundRect">
            <a:avLst>
              <a:gd name="adj" fmla="val 12500"/>
            </a:avLst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938528"/>
            <a:ext cx="24304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HORIZONTE E ESCOPO DO PROJETO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0" y="2249424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22677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Horizonte de projeção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32320" y="2267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5 anos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596896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Taxa de conversão (ajustada)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132320" y="26151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30%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2944368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9626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Obras novas — mês 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3232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8 obras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3291840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3310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Duração média de uma obra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132320" y="3310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3 meses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54880" y="3639312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657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WACC (custo de capital)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132320" y="36576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26,49%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54880" y="3986784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40050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CAPEX total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132320" y="40050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R$ 128.867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Fluxo de Caixa Livre (FCL) — Definição e Estrutura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</a:rPr>
              <a:t>O FCL representa o caixa real gerado pelo projeto, independente do financiamento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4/8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EAF3DE"/>
          </a:solidFill>
          <a:ln w="10160">
            <a:solidFill>
              <a:srgbClr val="C0DD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500A"/>
                </a:solidFill>
              </a:rPr>
              <a:t>Receita Operacional Líquida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161288"/>
            <a:ext cx="41148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6128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↓  − Custos e Despesas Operacionais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545336"/>
            <a:ext cx="4114800" cy="347472"/>
          </a:xfrm>
          <a:prstGeom prst="rect">
            <a:avLst/>
          </a:prstGeom>
          <a:solidFill>
            <a:srgbClr val="E6F1FB"/>
          </a:solidFill>
          <a:ln w="10160">
            <a:solidFill>
              <a:srgbClr val="B5D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4533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</a:rPr>
              <a:t>EBITDA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929384"/>
            <a:ext cx="41148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929384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↓  − Depreciação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313432"/>
            <a:ext cx="4114800" cy="347472"/>
          </a:xfrm>
          <a:prstGeom prst="rect">
            <a:avLst/>
          </a:prstGeom>
          <a:solidFill>
            <a:srgbClr val="E6F1FB"/>
          </a:solidFill>
          <a:ln w="10160">
            <a:solidFill>
              <a:srgbClr val="B5D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31343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5FA5"/>
                </a:solidFill>
              </a:rPr>
              <a:t>LAJIR (Lucro antes do IR)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97480"/>
            <a:ext cx="41148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9748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↓  − Impostos + Depreciação − CAPEX +/− Giro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81528"/>
            <a:ext cx="4114800" cy="347472"/>
          </a:xfrm>
          <a:prstGeom prst="rect">
            <a:avLst/>
          </a:prstGeom>
          <a:solidFill>
            <a:srgbClr val="0B2545"/>
          </a:solidFill>
          <a:ln w="1016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081528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= FCL — Fluxo de Caixa Livre  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804672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04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8229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Por que FCL e não lucro?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10607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O lucro inclui receitas não recebidas e depreciação. FCL mede só o caixa real — impossível de manipular contabilmente.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810512"/>
            <a:ext cx="41605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828800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28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18470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Fluxos incrementais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0848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Entram só os fluxos que existem por causa do projeto. Custos afundados (sunk costs) são excluídos — são irrecuperáveis.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834640"/>
            <a:ext cx="41605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852928"/>
            <a:ext cx="237744" cy="23774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871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Capital de Giro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1089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Financia a operação até o recebimento das receitas. Não é saída permanente — retorna ao caixa ao final do projeto.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858768"/>
            <a:ext cx="4160520" cy="0"/>
          </a:xfrm>
          <a:prstGeom prst="line">
            <a:avLst/>
          </a:prstGeom>
          <a:noFill/>
          <a:ln w="5080">
            <a:solidFill>
              <a:srgbClr val="D3D1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877056"/>
            <a:ext cx="237744" cy="237744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877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8953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VPL e TIR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13308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</a:rPr>
              <a:t>VPL desconta o FCL pelo WACC — aceitar se VPL &gt; 0. TIR é a taxa que zera o VPL — comparar com a TMA (26,49%).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Opções Reais (OR) — Definição e Modelos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</a:rPr>
              <a:t>A flexibilidade gerencial tem valor — e o VPL estático não captura isso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5/8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605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41248"/>
            <a:ext cx="1980590" cy="219456"/>
          </a:xfrm>
          <a:prstGeom prst="roundRect">
            <a:avLst>
              <a:gd name="adj" fmla="val 125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19805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 QUE SÃO OPÇÕES REAIS?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29768" y="1188720"/>
            <a:ext cx="82296" cy="822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1247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São o direito — mas não a obrigação — de tomar uma decisão futura sobre um investimento real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1755648"/>
            <a:ext cx="82296" cy="822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6916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Capturam o valor da flexibilidade gerencial: expandir, abandonar, esperar ou contrair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2322576"/>
            <a:ext cx="82296" cy="822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25856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VPL com OR  =  VPL estático  +  Valor das Opções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41248"/>
            <a:ext cx="2355494" cy="219456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841248"/>
            <a:ext cx="23554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MODELO BINOMIAL — PARÂMETROS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02336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612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Volatilidade (σ)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116128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C3489"/>
                </a:solidFill>
              </a:rPr>
              <a:t>40% — startup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417320"/>
            <a:ext cx="4023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3560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Taxa livre de risco (rf)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14356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C3489"/>
                </a:solidFill>
              </a:rPr>
              <a:t>14,75%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691640"/>
            <a:ext cx="402336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0992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Fator de alta  u = e^σ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1709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C3489"/>
                </a:solidFill>
              </a:rPr>
              <a:t>1,4918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965960"/>
            <a:ext cx="4023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98424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Fator de baixa  d = 1/u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198424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C3489"/>
                </a:solidFill>
              </a:rPr>
              <a:t>0,6703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240280"/>
            <a:ext cx="4023360" cy="256032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25856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Prob. neutra ao risco  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225856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C3489"/>
                </a:solidFill>
              </a:rPr>
              <a:t>0,5948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514600"/>
            <a:ext cx="4023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53288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Fórmula de 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253288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C3489"/>
                </a:solidFill>
              </a:rPr>
              <a:t>(e^rf − d) / (u − d)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852928"/>
            <a:ext cx="8595360" cy="987552"/>
          </a:xfrm>
          <a:prstGeom prst="rect">
            <a:avLst/>
          </a:prstGeom>
          <a:solidFill>
            <a:srgbClr val="EAF3DE"/>
          </a:solidFill>
          <a:ln w="10160">
            <a:solidFill>
              <a:srgbClr val="C0DD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852928"/>
            <a:ext cx="54864" cy="987552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" y="2898648"/>
            <a:ext cx="4005072" cy="219456"/>
          </a:xfrm>
          <a:prstGeom prst="roundRect">
            <a:avLst>
              <a:gd name="adj" fmla="val 12500"/>
            </a:avLst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289864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OPÇÃO DE EXPANSÃO (CALL) — APLICADA AO MARKETPLACE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02336" y="312724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No Ano 2, se SP estiver sólido, exercemos a opção de entrar em MG e RJ. Investimento adicional de R$2,5M. Só exercida se o valor do projeto (S) superar o custo (X).  Valor calculado: R$ 9.979.000.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13632"/>
            <a:ext cx="8595360" cy="987552"/>
          </a:xfrm>
          <a:prstGeom prst="rect">
            <a:avLst/>
          </a:prstGeom>
          <a:solidFill>
            <a:srgbClr val="FCEBEB"/>
          </a:solidFill>
          <a:ln w="10160">
            <a:solidFill>
              <a:srgbClr val="F7C1C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913632"/>
            <a:ext cx="54864" cy="987552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" y="3959352"/>
            <a:ext cx="3930091" cy="219456"/>
          </a:xfrm>
          <a:prstGeom prst="roundRect">
            <a:avLst>
              <a:gd name="adj" fmla="val 12500"/>
            </a:avLst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3959352"/>
            <a:ext cx="39300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OPÇÃO DE ABANDONO (PUT) — APLICADA AO MARKETPLACE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02336" y="418795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Se a adoção for muito baixa no Ano 1, podemos vender a plataforma pronta por R$3M para um player estratégico. Funciona como seguro contra o pior caso.  Valor calculado: R$ 2.097.000.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Dados do Projeto — Premissas e OPEX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</a:rPr>
              <a:t>Extraídos diretamente da modelagem financeira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6/8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06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41248"/>
            <a:ext cx="2355494" cy="219456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41248"/>
            <a:ext cx="23554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TAXAS DE MERCADO (PREMISSAS)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3385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IPCA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1338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4,26%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133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IBGE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813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Taxa livre de risco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14813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14,75%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4813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BCB / B3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1810512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Equity Risk Premium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1828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4,23%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828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Damodaran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2157984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76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Country Risk Premium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21762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3,24%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1762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Damodaran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505456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2374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Prêmio startup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25237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3,00%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25237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Premissa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2852928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712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1"/>
                </a:solidFill>
              </a:rPr>
              <a:t>Beta alavancado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28712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</a:rPr>
              <a:t>1,17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28712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Calculado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200400"/>
            <a:ext cx="4023360" cy="329184"/>
          </a:xfrm>
          <a:prstGeom prst="rect">
            <a:avLst/>
          </a:prstGeom>
          <a:solidFill>
            <a:srgbClr val="E6F1FB"/>
          </a:solidFill>
          <a:ln w="10160">
            <a:solidFill>
              <a:srgbClr val="B5D4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186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WACC (TMA)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32186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</a:rPr>
              <a:t>26,49%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3218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Consolidado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3440" y="777240"/>
            <a:ext cx="42062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841248"/>
            <a:ext cx="2805379" cy="219456"/>
          </a:xfrm>
          <a:prstGeom prst="roundRect">
            <a:avLst>
              <a:gd name="adj" fmla="val 12500"/>
            </a:avLst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841248"/>
            <a:ext cx="28053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OPEX MENSAL — CRESCIMENTO POR FASE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1115568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11338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489"/>
                </a:solidFill>
              </a:rPr>
              <a:t>Meses 1–6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33872" y="11338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1"/>
                </a:solidFill>
              </a:rPr>
              <a:t>Time fundador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96912" y="113385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R$ 96.070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1463040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14813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489"/>
                </a:solidFill>
              </a:rPr>
              <a:t>Meses 7–12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33872" y="14813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1"/>
                </a:solidFill>
              </a:rPr>
              <a:t>+CS, +analista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96912" y="14813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R$ 110.000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1810512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828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489"/>
                </a:solidFill>
              </a:rPr>
              <a:t>Meses 13–24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33872" y="1828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1"/>
                </a:solidFill>
              </a:rPr>
              <a:t>+comercial, +ops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96912" y="182880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R$ 130–150k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2157984"/>
            <a:ext cx="402336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1762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489"/>
                </a:solidFill>
              </a:rPr>
              <a:t>Meses 25–36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33872" y="21762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1"/>
                </a:solidFill>
              </a:rPr>
              <a:t>Head expansão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96912" y="2176272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R$ 170–200k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505456"/>
            <a:ext cx="4023360" cy="329184"/>
          </a:xfrm>
          <a:prstGeom prst="rect">
            <a:avLst/>
          </a:prstGeom>
          <a:solidFill>
            <a:srgbClr val="F8F9FA"/>
          </a:solidFill>
          <a:ln w="3810">
            <a:solidFill>
              <a:srgbClr val="D3D1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25237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3489"/>
                </a:solidFill>
              </a:rPr>
              <a:t>Meses 37–48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33872" y="25237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1"/>
                </a:solidFill>
              </a:rPr>
              <a:t>Time MG/RJ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96912" y="2523744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545"/>
                </a:solidFill>
              </a:rPr>
              <a:t>R$ 230–270k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2852928"/>
            <a:ext cx="4023360" cy="329184"/>
          </a:xfrm>
          <a:prstGeom prst="rect">
            <a:avLst/>
          </a:prstGeom>
          <a:solidFill>
            <a:srgbClr val="E6F1FB"/>
          </a:solidFill>
          <a:ln w="10160">
            <a:solidFill>
              <a:srgbClr val="B5D4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28712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85FA5"/>
                </a:solidFill>
              </a:rPr>
              <a:t>Meses 49–60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33872" y="28712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1"/>
                </a:solidFill>
              </a:rPr>
              <a:t>Nacional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296912" y="2871216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85FA5"/>
                </a:solidFill>
              </a:rPr>
              <a:t>R$ 310–380k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74320" y="3767328"/>
            <a:ext cx="54864" cy="502920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9184" y="3767328"/>
            <a:ext cx="8540496" cy="50292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" y="37673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CAPEX total: R$128.867 (setup jurídico, branding, equipamentos). COGS por obra: R$52,87 (IA, cloud, NF, WhatsApp).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Dados do Projeto — FCL e Indicadores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D4F4"/>
                </a:solidFill>
              </a:rPr>
              <a:t>Projeção 5 anos com conversão de 30% e OPEX crescente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7/8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Ano 1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Ano 2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Ano 3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Ano 4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Ano 5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4441"/>
                          </a:solidFill>
                        </a:rPr>
                        <a:t>Receita Bruta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R$ 2,82M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R$ 9,20M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R$ 13,16M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R$ 21,08M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R$ 40,51M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4441"/>
                          </a:solidFill>
                        </a:rPr>
                        <a:t>(−) OPEX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91F1F"/>
                          </a:solidFill>
                        </a:rPr>
                        <a:t>R$ 1,24M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91F1F"/>
                          </a:solidFill>
                        </a:rPr>
                        <a:t>R$ 1,68M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91F1F"/>
                          </a:solidFill>
                        </a:rPr>
                        <a:t>R$ 2,22M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91F1F"/>
                          </a:solidFill>
                        </a:rPr>
                        <a:t>R$ 3,00M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91F1F"/>
                          </a:solidFill>
                        </a:rPr>
                        <a:t>R$ 4,14M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EBITDA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R$ 1,41M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R$ 6,96M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R$ 10,13M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R$ 16,79M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R$ 33,88M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4441"/>
                          </a:solidFill>
                        </a:rPr>
                        <a:t>Margem EBITDA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50,0%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75,5%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77,0%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79,6%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83,6%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FCL Líquido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R$ 1,10M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R$ 6,05M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R$ 8,82M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R$ 14,60M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85FA5"/>
                          </a:solidFill>
                        </a:rPr>
                        <a:t>R$ 29,48M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44441"/>
                          </a:solidFill>
                        </a:rPr>
                        <a:t>FCL Descontado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R$ 869k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R$ 3,78M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R$ 4,36M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R$ 5,71M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R$ 9,10M</a:t>
                      </a:r>
                      <a:endParaRPr lang="en-US" sz="9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246120"/>
            <a:ext cx="274320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246120"/>
            <a:ext cx="274320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3337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VPL BASE (5 ANOS)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74320" y="3502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R$ 23,7M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74320" y="3904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WACC 26,49%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00400" y="3246120"/>
            <a:ext cx="274320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3246120"/>
            <a:ext cx="27432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3337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+ OPÇÃO EXPANSÃO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200400" y="3502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34AB7"/>
                </a:solidFill>
              </a:rPr>
              <a:t>R$ 9,98M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00400" y="3904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MG + RJ no Ano 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26480" y="3246120"/>
            <a:ext cx="2743200" cy="914400"/>
          </a:xfrm>
          <a:prstGeom prst="rect">
            <a:avLst/>
          </a:prstGeom>
          <a:solidFill>
            <a:srgbClr val="F8F9FA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246120"/>
            <a:ext cx="2743200" cy="54864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3375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VPL ESTRATÉGICO TOTAL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126480" y="3502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500A"/>
                </a:solidFill>
              </a:rPr>
              <a:t>R$ 35,76M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26480" y="3904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+51% sobre base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74320" y="4297680"/>
            <a:ext cx="54864" cy="5486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" y="4297680"/>
            <a:ext cx="8540496" cy="54864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2336" y="4297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Payback: ~1,4 meses (CAPEX de R$129k ÷ FCL médio mensal do Ano 1). Ponto de breakeven: conversão mínima de 14% para EBITDA positivo.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Síntese do 1º Teste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</a:rPr>
              <a:t>Os três pontos exigidos pelo professor — entregues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2880360"/>
          </a:xfrm>
          <a:prstGeom prst="rect">
            <a:avLst/>
          </a:prstGeom>
          <a:solidFill>
            <a:srgbClr val="0D1E36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</a:rPr>
              <a:t>✓  Contextualização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26464"/>
            <a:ext cx="82296" cy="8229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624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Problema: compra fragmentada de materiais em obras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084832"/>
            <a:ext cx="82296" cy="8229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208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Solução: marketplace B2B com fee de 2,5%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743200"/>
            <a:ext cx="82296" cy="82296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791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TAM R$64,1B  ·  SOM R$3,2B em 5 anos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743200" cy="2880360"/>
          </a:xfrm>
          <a:prstGeom prst="rect">
            <a:avLst/>
          </a:prstGeom>
          <a:solidFill>
            <a:srgbClr val="0D1E36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024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</a:rPr>
              <a:t>✓  Teorias FCL e 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426464"/>
            <a:ext cx="82296" cy="822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3624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FCL: estrutura, fluxos incrementais, VPL e TIR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10128" y="2084832"/>
            <a:ext cx="82296" cy="822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0208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OR: Modelo Binomial com σ=40%, p=0,5948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2743200"/>
            <a:ext cx="82296" cy="822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6791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Expansão (Call) e Abandono (Put) definidos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743200" cy="2880360"/>
          </a:xfrm>
          <a:prstGeom prst="rect">
            <a:avLst/>
          </a:prstGeom>
          <a:solidFill>
            <a:srgbClr val="0D1E36"/>
          </a:solidFill>
          <a:ln w="10160">
            <a:solidFill>
              <a:srgbClr val="2750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241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500A"/>
                </a:solidFill>
              </a:rPr>
              <a:t>✓  Planilhas com dados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36208" y="1426464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3624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WACC 26,49% com fontes (BCB, Damodaran)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36208" y="2084832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02082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FCL projetado: R$1,1M → R$29,5M (Ano 1–5)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6208" y="2743200"/>
            <a:ext cx="82296" cy="82296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6791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VPL R$23,7M  ·  VPL estratégico R$35,8M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914400"/>
          </a:xfrm>
          <a:prstGeom prst="rect">
            <a:avLst/>
          </a:prstGeom>
          <a:solidFill>
            <a:srgbClr val="185FA5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867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D4F4"/>
                </a:solidFill>
              </a:rPr>
              <a:t>Próximo passo — 2º Teste: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1879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Relatório completo com Contexto, Análise de Cenários e Sensibilidade aprofundada, e Conclusão estratégica do projeto.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0" y="48920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8780"/>
                </a:solidFill>
              </a:rPr>
              <a:t>8/8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de Material de Construção — 1º Teste</dc:title>
  <dc:subject>PptxGenJS Presentation</dc:subject>
  <dc:creator>PptxGenJS</dc:creator>
  <cp:lastModifiedBy>PptxGenJS</cp:lastModifiedBy>
  <cp:revision>1</cp:revision>
  <dcterms:created xsi:type="dcterms:W3CDTF">2026-05-20T23:52:06Z</dcterms:created>
  <dcterms:modified xsi:type="dcterms:W3CDTF">2026-05-20T23:52:06Z</dcterms:modified>
</cp:coreProperties>
</file>